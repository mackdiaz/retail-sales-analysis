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158830-16B4-4F1C-9385-CD70BFDE7499}" type="datetimeFigureOut">
              <a:rPr lang="es-CL" smtClean="0"/>
              <a:t>20-06-2025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937770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20-06-2025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7987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158830-16B4-4F1C-9385-CD70BFDE7499}" type="datetimeFigureOut">
              <a:rPr lang="es-CL" smtClean="0"/>
              <a:t>20-06-2025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58379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20-06-2025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449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20-06-2025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580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20-06-2025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4062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20-06-2025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982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158830-16B4-4F1C-9385-CD70BFDE7499}" type="datetimeFigureOut">
              <a:rPr lang="es-CL" smtClean="0"/>
              <a:t>20-06-2025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91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158830-16B4-4F1C-9385-CD70BFDE7499}" type="datetimeFigureOut">
              <a:rPr lang="es-CL" smtClean="0"/>
              <a:t>20-06-2025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2752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20-06-2025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0715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20-06-2025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002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1158830-16B4-4F1C-9385-CD70BFDE7499}" type="datetimeFigureOut">
              <a:rPr lang="es-CL" smtClean="0"/>
              <a:t>20-06-2025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8766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87D606-08D5-4CFE-9A3F-F127848CB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2385222"/>
            <a:ext cx="8361229" cy="2098226"/>
          </a:xfrm>
        </p:spPr>
        <p:txBody>
          <a:bodyPr>
            <a:normAutofit fontScale="90000"/>
          </a:bodyPr>
          <a:lstStyle/>
          <a:p>
            <a:r>
              <a:rPr lang="es-ES" b="0" i="0" dirty="0">
                <a:solidFill>
                  <a:srgbClr val="1A1B1E"/>
                </a:solidFill>
                <a:effectLst/>
                <a:latin typeface="-apple-system"/>
              </a:rPr>
              <a:t>Proyecto</a:t>
            </a:r>
            <a:br>
              <a:rPr lang="es-ES" b="0" i="0" dirty="0">
                <a:solidFill>
                  <a:srgbClr val="1A1B1E"/>
                </a:solidFill>
                <a:effectLst/>
                <a:latin typeface="-apple-system"/>
              </a:rPr>
            </a:br>
            <a:r>
              <a:rPr lang="es-ES" b="0" i="0" dirty="0">
                <a:solidFill>
                  <a:srgbClr val="1A1B1E"/>
                </a:solidFill>
                <a:effectLst/>
                <a:latin typeface="-apple-system"/>
              </a:rPr>
              <a:t>Visualización para ciencia de datos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5AFAE2-2AC9-4D40-AE9F-F87A86EDB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4466418"/>
            <a:ext cx="6831673" cy="1086237"/>
          </a:xfrm>
        </p:spPr>
        <p:txBody>
          <a:bodyPr/>
          <a:lstStyle/>
          <a:p>
            <a:pPr algn="r"/>
            <a:endParaRPr lang="es-CL" dirty="0"/>
          </a:p>
          <a:p>
            <a:pPr algn="r"/>
            <a:r>
              <a:rPr lang="es-CL" dirty="0"/>
              <a:t>Por Mack Díaz</a:t>
            </a:r>
          </a:p>
        </p:txBody>
      </p:sp>
    </p:spTree>
    <p:extLst>
      <p:ext uri="{BB962C8B-B14F-4D97-AF65-F5344CB8AC3E}">
        <p14:creationId xmlns:p14="http://schemas.microsoft.com/office/powerpoint/2010/main" val="1198579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7D985A-B847-4712-989F-DF74DCC3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0" i="0" dirty="0">
                <a:solidFill>
                  <a:srgbClr val="41454F"/>
                </a:solidFill>
                <a:effectLst/>
                <a:latin typeface="-apple-system"/>
              </a:rPr>
              <a:t>Introducción y objetivos del proyecto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C268F3-B80E-4253-9F9E-106E161D9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L" dirty="0"/>
              <a:t>El objetivo principal del proyecto es aprender a realizar un análisis completo de información mediante Python y librerías añadidas, para obtener información relevante de un conjunto de datos.</a:t>
            </a:r>
          </a:p>
          <a:p>
            <a:pPr marL="0" indent="0">
              <a:buNone/>
            </a:pPr>
            <a:r>
              <a:rPr lang="es-CL" dirty="0"/>
              <a:t>Se considera como la información a explorar un conjunto de datos correspondientes a las ventas en </a:t>
            </a:r>
            <a:r>
              <a:rPr lang="es-CL" dirty="0" err="1"/>
              <a:t>Retail</a:t>
            </a:r>
            <a:r>
              <a:rPr lang="es-CL" dirty="0"/>
              <a:t> de cierta tienda, donde se incluyen tanto los datos de la venta como del cliente.</a:t>
            </a:r>
          </a:p>
          <a:p>
            <a:pPr marL="0" indent="0">
              <a:buNone/>
            </a:pPr>
            <a:r>
              <a:rPr lang="es-CL" dirty="0"/>
              <a:t>En objetivos secundarios tenemos:</a:t>
            </a:r>
          </a:p>
          <a:p>
            <a:r>
              <a:rPr lang="es-CL" dirty="0"/>
              <a:t>Realizar limpieza de la información.</a:t>
            </a:r>
          </a:p>
          <a:p>
            <a:r>
              <a:rPr lang="es-CL" dirty="0"/>
              <a:t>Generar gráficos y conclusiones de la información.</a:t>
            </a:r>
          </a:p>
          <a:p>
            <a:r>
              <a:rPr lang="es-CL" dirty="0"/>
              <a:t>Poder aportar a la toma de decisiones de la tienda.</a:t>
            </a:r>
          </a:p>
        </p:txBody>
      </p:sp>
    </p:spTree>
    <p:extLst>
      <p:ext uri="{BB962C8B-B14F-4D97-AF65-F5344CB8AC3E}">
        <p14:creationId xmlns:p14="http://schemas.microsoft.com/office/powerpoint/2010/main" val="253186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A1E67-584A-4A51-A3E1-4035E0D50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 i="0" dirty="0">
                <a:solidFill>
                  <a:srgbClr val="41454F"/>
                </a:solidFill>
                <a:effectLst/>
                <a:latin typeface="-apple-system"/>
              </a:rPr>
              <a:t>Descripción del conjunto de datos</a:t>
            </a:r>
            <a:br>
              <a:rPr lang="es-ES" b="0" i="0" dirty="0">
                <a:solidFill>
                  <a:srgbClr val="41454F"/>
                </a:solidFill>
                <a:effectLst/>
                <a:latin typeface="-apple-system"/>
              </a:rPr>
            </a:b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3250DD-2BC3-4FA3-958D-FCAF0756B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3169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L" dirty="0"/>
              <a:t>Los datos están compuestos por la siguientes columnas:</a:t>
            </a:r>
          </a:p>
          <a:p>
            <a:pPr marL="987552" lvl="1" indent="-457200">
              <a:buFont typeface="+mj-lt"/>
              <a:buAutoNum type="arabicPeriod"/>
            </a:pPr>
            <a:r>
              <a:rPr lang="es-CL" dirty="0" err="1"/>
              <a:t>Transaction</a:t>
            </a:r>
            <a:r>
              <a:rPr lang="es-CL" dirty="0"/>
              <a:t> ID: ID único para cada transacción.</a:t>
            </a:r>
          </a:p>
          <a:p>
            <a:pPr marL="987552" lvl="1" indent="-457200">
              <a:buFont typeface="+mj-lt"/>
              <a:buAutoNum type="arabicPeriod"/>
            </a:pPr>
            <a:r>
              <a:rPr lang="es-CL" dirty="0"/>
              <a:t>Date: Fecha de la transacción.</a:t>
            </a:r>
          </a:p>
          <a:p>
            <a:pPr marL="987552" lvl="1" indent="-457200">
              <a:buFont typeface="+mj-lt"/>
              <a:buAutoNum type="arabicPeriod"/>
            </a:pPr>
            <a:r>
              <a:rPr lang="es-CL" dirty="0" err="1"/>
              <a:t>Customer</a:t>
            </a:r>
            <a:r>
              <a:rPr lang="es-CL" dirty="0"/>
              <a:t> ID: ID único para cada cliente.</a:t>
            </a:r>
          </a:p>
          <a:p>
            <a:pPr marL="987552" lvl="1" indent="-457200">
              <a:buFont typeface="+mj-lt"/>
              <a:buAutoNum type="arabicPeriod"/>
            </a:pPr>
            <a:r>
              <a:rPr lang="es-CL" dirty="0" err="1"/>
              <a:t>Gender</a:t>
            </a:r>
            <a:r>
              <a:rPr lang="es-CL" dirty="0"/>
              <a:t>: Género del cliente (Masculino/Femenino).</a:t>
            </a:r>
          </a:p>
          <a:p>
            <a:pPr marL="987552" lvl="1" indent="-457200">
              <a:buFont typeface="+mj-lt"/>
              <a:buAutoNum type="arabicPeriod"/>
            </a:pPr>
            <a:r>
              <a:rPr lang="es-CL" dirty="0"/>
              <a:t>Age: Edad del cliente.</a:t>
            </a:r>
          </a:p>
          <a:p>
            <a:pPr marL="987552" lvl="1" indent="-457200">
              <a:buFont typeface="+mj-lt"/>
              <a:buAutoNum type="arabicPeriod"/>
            </a:pPr>
            <a:r>
              <a:rPr lang="es-CL" dirty="0" err="1"/>
              <a:t>Product</a:t>
            </a:r>
            <a:r>
              <a:rPr lang="es-CL" dirty="0"/>
              <a:t> </a:t>
            </a:r>
            <a:r>
              <a:rPr lang="es-CL" dirty="0" err="1"/>
              <a:t>Category</a:t>
            </a:r>
            <a:r>
              <a:rPr lang="es-CL" dirty="0"/>
              <a:t>: Categoría del Producto.</a:t>
            </a:r>
          </a:p>
          <a:p>
            <a:pPr marL="987552" lvl="1" indent="-457200">
              <a:buFont typeface="+mj-lt"/>
              <a:buAutoNum type="arabicPeriod"/>
            </a:pPr>
            <a:r>
              <a:rPr lang="es-CL" dirty="0" err="1"/>
              <a:t>Quantity</a:t>
            </a:r>
            <a:r>
              <a:rPr lang="es-CL" dirty="0"/>
              <a:t>: Cantidad de unidades de Producto compradas.</a:t>
            </a:r>
          </a:p>
          <a:p>
            <a:pPr marL="987552" lvl="1" indent="-457200">
              <a:buFont typeface="+mj-lt"/>
              <a:buAutoNum type="arabicPeriod"/>
            </a:pPr>
            <a:r>
              <a:rPr lang="es-CL" dirty="0"/>
              <a:t>Price per </a:t>
            </a:r>
            <a:r>
              <a:rPr lang="es-CL" dirty="0" err="1"/>
              <a:t>Unit</a:t>
            </a:r>
            <a:r>
              <a:rPr lang="es-CL" dirty="0"/>
              <a:t>: Precio unitario del Producto.</a:t>
            </a:r>
          </a:p>
          <a:p>
            <a:pPr marL="987552" lvl="1" indent="-457200">
              <a:buFont typeface="+mj-lt"/>
              <a:buAutoNum type="arabicPeriod"/>
            </a:pPr>
            <a:r>
              <a:rPr lang="es-CL" dirty="0"/>
              <a:t>Total </a:t>
            </a:r>
            <a:r>
              <a:rPr lang="es-CL" dirty="0" err="1"/>
              <a:t>Amount</a:t>
            </a:r>
            <a:r>
              <a:rPr lang="es-CL" dirty="0"/>
              <a:t>: Precio total de la transacción.</a:t>
            </a:r>
          </a:p>
          <a:p>
            <a:pPr marL="0" indent="0">
              <a:buNone/>
            </a:pPr>
            <a:r>
              <a:rPr lang="es-CL" dirty="0"/>
              <a:t>Los datos como se puede observar corresponden tanto a información de la compra, como a información personal del cliente.</a:t>
            </a:r>
          </a:p>
        </p:txBody>
      </p:sp>
    </p:spTree>
    <p:extLst>
      <p:ext uri="{BB962C8B-B14F-4D97-AF65-F5344CB8AC3E}">
        <p14:creationId xmlns:p14="http://schemas.microsoft.com/office/powerpoint/2010/main" val="36794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FAD23-F02A-45D7-94AE-449B6EDF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0" i="0" dirty="0">
                <a:solidFill>
                  <a:srgbClr val="41454F"/>
                </a:solidFill>
                <a:effectLst/>
                <a:latin typeface="-apple-system"/>
              </a:rPr>
              <a:t>Principales análisis y hallazgos</a:t>
            </a:r>
            <a:br>
              <a:rPr lang="es-CL" b="0" i="0" dirty="0">
                <a:solidFill>
                  <a:srgbClr val="41454F"/>
                </a:solidFill>
                <a:effectLst/>
                <a:latin typeface="-apple-system"/>
              </a:rPr>
            </a:b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992CC5-19DE-4B2F-954B-FB9D82EF9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dirty="0"/>
              <a:t>Dentro de nuestros hallazgos podemos observar que la Categoría de Producto con mayores ventas fue </a:t>
            </a:r>
            <a:r>
              <a:rPr lang="es-CL" dirty="0" err="1"/>
              <a:t>Electronics</a:t>
            </a:r>
            <a:r>
              <a:rPr lang="es-CL" dirty="0"/>
              <a:t>, y el de menores ventas fue </a:t>
            </a:r>
            <a:r>
              <a:rPr lang="es-CL" dirty="0" err="1"/>
              <a:t>Beauty</a:t>
            </a:r>
            <a:r>
              <a:rPr lang="es-CL" dirty="0"/>
              <a:t>.</a:t>
            </a:r>
          </a:p>
          <a:p>
            <a:pPr marL="0" indent="0">
              <a:buNone/>
            </a:pPr>
            <a:r>
              <a:rPr lang="es-CL" dirty="0"/>
              <a:t>También realizando un análisis sobre el promedio de ventas totales y su desviación estándar, se observa que la mayoría de las ventas se concentran en ventas de bajo costo, hasta el percentil 75% se cumple la condición, siendo el ultimo percentil correspondiente a ventas que sobrepasan este promedio.</a:t>
            </a:r>
          </a:p>
          <a:p>
            <a:pPr marL="0" indent="0">
              <a:buNone/>
            </a:pPr>
            <a:r>
              <a:rPr lang="es-CL" dirty="0"/>
              <a:t>No se encontró una correlación significativa entre los datos al analizar las correlaciones, fuera de las evidentes entre cantidad, valor y precio total, no había correlación significativa.</a:t>
            </a:r>
          </a:p>
        </p:txBody>
      </p:sp>
    </p:spTree>
    <p:extLst>
      <p:ext uri="{BB962C8B-B14F-4D97-AF65-F5344CB8AC3E}">
        <p14:creationId xmlns:p14="http://schemas.microsoft.com/office/powerpoint/2010/main" val="280962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0E969-3099-47FC-B919-DA922426E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0" i="0" dirty="0">
                <a:solidFill>
                  <a:srgbClr val="41454F"/>
                </a:solidFill>
                <a:effectLst/>
                <a:latin typeface="-apple-system"/>
              </a:rPr>
              <a:t>Visualizaciones clave con explicación</a:t>
            </a:r>
            <a:br>
              <a:rPr lang="es-CL" b="0" i="0" dirty="0">
                <a:solidFill>
                  <a:srgbClr val="41454F"/>
                </a:solidFill>
                <a:effectLst/>
                <a:latin typeface="-apple-system"/>
              </a:rPr>
            </a:b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BA856D-CE0D-4ED5-B5B4-9FAF67F2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5296" y="2305250"/>
            <a:ext cx="4687503" cy="3581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L" dirty="0"/>
              <a:t>TA </a:t>
            </a:r>
            <a:r>
              <a:rPr lang="es-CL" dirty="0" err="1"/>
              <a:t>Normalized</a:t>
            </a:r>
            <a:r>
              <a:rPr lang="es-CL" dirty="0"/>
              <a:t> es una columna añadida, la cual corresponde al Monto Total de cada venta en valores normalizados, es decir que van desde 0 a 1, siendo 0 el valor mínimo y 1 el valor máximo de ventas.</a:t>
            </a:r>
          </a:p>
          <a:p>
            <a:pPr marL="0" indent="0">
              <a:buNone/>
            </a:pPr>
            <a:r>
              <a:rPr lang="es-CL" dirty="0"/>
              <a:t>Como mencionamos anteriormente, hasta el percentil 75% de las ventas, estas se agrupan tendiendo hacia la izquierda, hacia ventas de bajos costos. Pero el percentil final indica que hay una gran dispersión entre las ventas.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89FDCA-F2B4-47C0-BD86-09F24F8CA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89493"/>
            <a:ext cx="4448167" cy="441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69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0E969-3099-47FC-B919-DA922426E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0" i="0" dirty="0">
                <a:solidFill>
                  <a:srgbClr val="41454F"/>
                </a:solidFill>
                <a:effectLst/>
                <a:latin typeface="-apple-system"/>
              </a:rPr>
              <a:t>Visualizaciones clave con explicación</a:t>
            </a:r>
            <a:br>
              <a:rPr lang="es-CL" b="0" i="0" dirty="0">
                <a:solidFill>
                  <a:srgbClr val="41454F"/>
                </a:solidFill>
                <a:effectLst/>
                <a:latin typeface="-apple-system"/>
              </a:rPr>
            </a:b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BA856D-CE0D-4ED5-B5B4-9FAF67F2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959" y="2030030"/>
            <a:ext cx="2377441" cy="4026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Analizando las ventas por categoría de productos y género. </a:t>
            </a:r>
          </a:p>
          <a:p>
            <a:pPr marL="0" indent="0">
              <a:buNone/>
            </a:pPr>
            <a:r>
              <a:rPr lang="es-CL" dirty="0"/>
              <a:t>Se puede observar que las ventas están equitativas, con la única excepción de menores ventas por parte de los hombres en la categoría </a:t>
            </a:r>
            <a:r>
              <a:rPr lang="es-CL" dirty="0" err="1"/>
              <a:t>Clothing</a:t>
            </a:r>
            <a:r>
              <a:rPr lang="es-CL" dirty="0"/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71169F3-CDA4-4564-A8CA-AB326AA1C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819" y="2030030"/>
            <a:ext cx="6441621" cy="402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20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0E969-3099-47FC-B919-DA922426E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0" i="0" dirty="0">
                <a:solidFill>
                  <a:srgbClr val="41454F"/>
                </a:solidFill>
                <a:effectLst/>
                <a:latin typeface="-apple-system"/>
              </a:rPr>
              <a:t>Visualizaciones clave con explicación</a:t>
            </a:r>
            <a:br>
              <a:rPr lang="es-CL" b="0" i="0" dirty="0">
                <a:solidFill>
                  <a:srgbClr val="41454F"/>
                </a:solidFill>
                <a:effectLst/>
                <a:latin typeface="-apple-system"/>
              </a:rPr>
            </a:b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BA856D-CE0D-4ED5-B5B4-9FAF67F2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4976261"/>
            <a:ext cx="10417742" cy="14859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CL" dirty="0"/>
              <a:t>Observando finalmente las distribuciones de edad, monto total y precio unitario.</a:t>
            </a:r>
          </a:p>
          <a:p>
            <a:pPr marL="0" indent="0">
              <a:buNone/>
            </a:pPr>
            <a:r>
              <a:rPr lang="es-CL" dirty="0"/>
              <a:t>Se puede ver que como se infiere a partir de los otros gráficos y análisis, las ventas SI se concentran más en menores costos que en mayores, lo que podría deberse a que la población tiende más a gastar en menores montos, realizando más transacciones en lugar de ventas únicas de mayor valor.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BE8719-53A0-4586-A983-754987306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570" y="1627054"/>
            <a:ext cx="7947259" cy="314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65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FADDB-3FFE-4AF2-964E-1AC8D50F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0" i="0" dirty="0">
                <a:solidFill>
                  <a:srgbClr val="41454F"/>
                </a:solidFill>
                <a:effectLst/>
                <a:latin typeface="-apple-system"/>
              </a:rPr>
              <a:t>Conclusiones y recomendaciones.</a:t>
            </a:r>
            <a:br>
              <a:rPr lang="es-CL" b="0" i="0" dirty="0">
                <a:solidFill>
                  <a:srgbClr val="41454F"/>
                </a:solidFill>
                <a:effectLst/>
                <a:latin typeface="-apple-system"/>
              </a:rPr>
            </a:b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7EDCE7-E479-4F7F-BEC6-51B2B211A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124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La edad a la que apunta la tienda con sus productos es la correspondiente, se verifica que hay clientes de todas las edades en todos los productos vendidos.</a:t>
            </a:r>
          </a:p>
          <a:p>
            <a:r>
              <a:rPr lang="es-CL" dirty="0"/>
              <a:t>Los hombres compran menos en la categoría de Belleza, por lo que podrían añadirse una variedad de nuevos productos para incrementar sus ventas.</a:t>
            </a:r>
          </a:p>
          <a:p>
            <a:r>
              <a:rPr lang="es-CL" dirty="0"/>
              <a:t>Debido a que las ventas se concentran en productos de menor costo y en menos cantidades. Una buena solución a implementar sería generar más productos a menor precio, como versiones de los productos caros, pero a precios más accesibles para toda la población. Según nuestro análisis eso incrementaría las ventas al poder darle más acceso a personas con recursos medios.</a:t>
            </a:r>
          </a:p>
          <a:p>
            <a:pPr marL="0" indent="0">
              <a:buNone/>
            </a:pPr>
            <a:r>
              <a:rPr lang="es-CL" dirty="0"/>
              <a:t>Finalmente, las ventas de la tienda se observan en buen estado, pero siempre hay espacio para mejorar.</a:t>
            </a:r>
          </a:p>
        </p:txBody>
      </p:sp>
    </p:spTree>
    <p:extLst>
      <p:ext uri="{BB962C8B-B14F-4D97-AF65-F5344CB8AC3E}">
        <p14:creationId xmlns:p14="http://schemas.microsoft.com/office/powerpoint/2010/main" val="678133852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25</TotalTime>
  <Words>683</Words>
  <Application>Microsoft Office PowerPoint</Application>
  <PresentationFormat>Panorámica</PresentationFormat>
  <Paragraphs>40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-apple-system</vt:lpstr>
      <vt:lpstr>Franklin Gothic Book</vt:lpstr>
      <vt:lpstr>Recorte</vt:lpstr>
      <vt:lpstr>Proyecto Visualización para ciencia de datos</vt:lpstr>
      <vt:lpstr>Introducción y objetivos del proyecto</vt:lpstr>
      <vt:lpstr>Descripción del conjunto de datos </vt:lpstr>
      <vt:lpstr>Principales análisis y hallazgos </vt:lpstr>
      <vt:lpstr>Visualizaciones clave con explicación </vt:lpstr>
      <vt:lpstr>Visualizaciones clave con explicación </vt:lpstr>
      <vt:lpstr>Visualizaciones clave con explicación </vt:lpstr>
      <vt:lpstr>Conclusiones y recomendaciones.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Visualización para ciencia de datos</dc:title>
  <dc:creator>mack diaz</dc:creator>
  <cp:lastModifiedBy>mack diaz</cp:lastModifiedBy>
  <cp:revision>4</cp:revision>
  <dcterms:created xsi:type="dcterms:W3CDTF">2025-06-20T18:16:38Z</dcterms:created>
  <dcterms:modified xsi:type="dcterms:W3CDTF">2025-06-20T18:42:10Z</dcterms:modified>
</cp:coreProperties>
</file>